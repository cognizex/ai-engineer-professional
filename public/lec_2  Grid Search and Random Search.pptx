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"/>
  </p:notesMasterIdLst>
  <p:sldIdLst>
    <p:sldId id="258" r:id="rId2"/>
    <p:sldId id="277" r:id="rId3"/>
    <p:sldId id="281" r:id="rId4"/>
    <p:sldId id="28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D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F5FAA-4225-4C5F-8BBE-1C1C577B392E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C79F-5231-4C6B-8A21-2E338FB6F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01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CC79F-5231-4C6B-8A21-2E338FB6FA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30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21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72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8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78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164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99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0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1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3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73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06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88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85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5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9415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9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1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github.com/sadbinsiddique" TargetMode="External"/><Relationship Id="rId4" Type="http://schemas.openxmlformats.org/officeDocument/2006/relationships/hyperlink" Target="http://www.cognizex.or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AA8A6-2765-CFB4-668C-77714EAB0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2B54ED-FFB9-3788-35B5-169763A4E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648930"/>
            <a:ext cx="5407023" cy="3347337"/>
          </a:xfrm>
        </p:spPr>
        <p:txBody>
          <a:bodyPr>
            <a:normAutofit/>
          </a:bodyPr>
          <a:lstStyle/>
          <a:p>
            <a:r>
              <a:rPr lang="en-US" dirty="0"/>
              <a:t>Grid Search and Random Search</a:t>
            </a:r>
            <a:endParaRPr lang="en-US" sz="5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C74C91-C2BE-ECD8-F571-9C10E140B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0632" y="3996267"/>
            <a:ext cx="4922391" cy="1887008"/>
          </a:xfrm>
        </p:spPr>
        <p:txBody>
          <a:bodyPr>
            <a:normAutofit/>
          </a:bodyPr>
          <a:lstStyle/>
          <a:p>
            <a:r>
              <a:rPr lang="en-US" b="1" dirty="0"/>
              <a:t>Organization: </a:t>
            </a:r>
            <a:r>
              <a:rPr lang="en-US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CognizeX</a:t>
            </a:r>
            <a:endParaRPr lang="en-US" dirty="0"/>
          </a:p>
          <a:p>
            <a:r>
              <a:rPr lang="en-US" b="1" dirty="0"/>
              <a:t>Instructor: </a:t>
            </a:r>
            <a:r>
              <a:rPr 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Sad Bin Siddique </a:t>
            </a:r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E65F7B2-F8B3-3243-3E54-3B3042A894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56" y="1011765"/>
            <a:ext cx="4546708" cy="4546708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397664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76" y="1261872"/>
            <a:ext cx="3458562" cy="4334256"/>
          </a:xfrm>
        </p:spPr>
        <p:txBody>
          <a:bodyPr>
            <a:normAutofit/>
          </a:bodyPr>
          <a:lstStyle/>
          <a:p>
            <a:pPr algn="r"/>
            <a:r>
              <a:rPr lang="en-US" sz="3600" b="1" dirty="0">
                <a:latin typeface="Roboto" panose="02000000000000000000" pitchFamily="2" charset="0"/>
                <a:ea typeface="Roboto" panose="02000000000000000000" pitchFamily="2" charset="0"/>
              </a:rPr>
              <a:t>Grid Search and Random Search</a:t>
            </a:r>
            <a:br>
              <a:rPr lang="en-US" sz="3600" b="1" dirty="0"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en-US" sz="36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7D43D-DAF3-F7A9-4582-99AD65EB3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>
                <a:latin typeface="Roboto" panose="02000000000000000000" pitchFamily="2" charset="0"/>
                <a:ea typeface="Roboto" panose="02000000000000000000" pitchFamily="2" charset="0"/>
              </a:rPr>
              <a:t>What is Grid Search?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Systematic method that evaluates all possible combinations of hyperparameter values.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b="1"/>
              <a:t>How Grid Search Works:</a:t>
            </a:r>
            <a:endParaRPr lang="en-US" sz="1400"/>
          </a:p>
          <a:p>
            <a:pPr>
              <a:lnSpc>
                <a:spcPct val="90000"/>
              </a:lnSpc>
            </a:pPr>
            <a:r>
              <a:rPr lang="en-US" sz="1400"/>
              <a:t>Define a range of values for each hyperparameter</a:t>
            </a:r>
          </a:p>
          <a:p>
            <a:pPr>
              <a:lnSpc>
                <a:spcPct val="90000"/>
              </a:lnSpc>
            </a:pPr>
            <a:r>
              <a:rPr lang="en-US" sz="1400"/>
              <a:t>Train &amp; evaluate the model on </a:t>
            </a:r>
            <a:r>
              <a:rPr lang="en-US" sz="1400" b="1"/>
              <a:t>every combination</a:t>
            </a:r>
            <a:endParaRPr lang="en-US" sz="1400"/>
          </a:p>
          <a:p>
            <a:pPr>
              <a:lnSpc>
                <a:spcPct val="90000"/>
              </a:lnSpc>
            </a:pPr>
            <a:r>
              <a:rPr lang="en-US" sz="1400"/>
              <a:t>Select the best performing combination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/>
          </a:p>
          <a:p>
            <a:pPr marL="0" indent="0">
              <a:lnSpc>
                <a:spcPct val="90000"/>
              </a:lnSpc>
              <a:buNone/>
            </a:pPr>
            <a:r>
              <a:rPr lang="en-US" sz="1400" b="1"/>
              <a:t>What is Random Search?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Alternative method that randomly samples hyperparameter combinations.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b="1"/>
              <a:t>How Random Search Works:</a:t>
            </a:r>
            <a:endParaRPr lang="en-US" sz="1400"/>
          </a:p>
          <a:p>
            <a:pPr>
              <a:lnSpc>
                <a:spcPct val="90000"/>
              </a:lnSpc>
            </a:pPr>
            <a:r>
              <a:rPr lang="en-US" sz="1400"/>
              <a:t>Define ranges/distributions for each hyperparameter</a:t>
            </a:r>
          </a:p>
          <a:p>
            <a:pPr>
              <a:lnSpc>
                <a:spcPct val="90000"/>
              </a:lnSpc>
            </a:pPr>
            <a:r>
              <a:rPr lang="en-US" sz="1400"/>
              <a:t>Randomly sample a fixed number of combinations</a:t>
            </a:r>
          </a:p>
          <a:p>
            <a:pPr>
              <a:lnSpc>
                <a:spcPct val="90000"/>
              </a:lnSpc>
            </a:pPr>
            <a:r>
              <a:rPr lang="en-US" sz="1400"/>
              <a:t>Train &amp; evaluate the model on the sampled combinations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/>
          </a:p>
          <a:p>
            <a:pPr marL="0" indent="0">
              <a:lnSpc>
                <a:spcPct val="90000"/>
              </a:lnSpc>
              <a:buNone/>
            </a:pPr>
            <a:endParaRPr lang="en-US" sz="1400"/>
          </a:p>
          <a:p>
            <a:pPr marL="0" indent="0">
              <a:lnSpc>
                <a:spcPct val="90000"/>
              </a:lnSpc>
              <a:buNone/>
            </a:pPr>
            <a:endParaRPr lang="en-US" sz="1400" b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29CE37F-A47C-D5DC-4BA5-354997E5CB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1" y="6081080"/>
            <a:ext cx="653258" cy="65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741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79790-A291-6828-B707-921BC833D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272B1-B273-7C4A-4BB0-A11AAE7EF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081548"/>
            <a:ext cx="3333495" cy="150433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</a:rPr>
              <a:t>Pros &amp; Cons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36D45-0431-3B55-7348-67DDE5A88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3333496" cy="312420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7198A07-3605-F33C-76BE-82143CAAA30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1" y="6081080"/>
            <a:ext cx="653258" cy="653258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307030-05C8-1AC9-A047-60FA96B36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706341"/>
              </p:ext>
            </p:extLst>
          </p:nvPr>
        </p:nvGraphicFramePr>
        <p:xfrm>
          <a:off x="5262033" y="1377564"/>
          <a:ext cx="6240991" cy="3669523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942329">
                  <a:extLst>
                    <a:ext uri="{9D8B030D-6E8A-4147-A177-3AD203B41FA5}">
                      <a16:colId xmlns:a16="http://schemas.microsoft.com/office/drawing/2014/main" val="3925196737"/>
                    </a:ext>
                  </a:extLst>
                </a:gridCol>
                <a:gridCol w="2018670">
                  <a:extLst>
                    <a:ext uri="{9D8B030D-6E8A-4147-A177-3AD203B41FA5}">
                      <a16:colId xmlns:a16="http://schemas.microsoft.com/office/drawing/2014/main" val="403779934"/>
                    </a:ext>
                  </a:extLst>
                </a:gridCol>
                <a:gridCol w="2279992">
                  <a:extLst>
                    <a:ext uri="{9D8B030D-6E8A-4147-A177-3AD203B41FA5}">
                      <a16:colId xmlns:a16="http://schemas.microsoft.com/office/drawing/2014/main" val="1603263704"/>
                    </a:ext>
                  </a:extLst>
                </a:gridCol>
              </a:tblGrid>
              <a:tr h="519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141747" marR="109036" marT="109036" marB="10903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Grid Search</a:t>
                      </a:r>
                    </a:p>
                  </a:txBody>
                  <a:tcPr marL="141747" marR="109036" marT="109036" marB="10903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Random Search</a:t>
                      </a:r>
                    </a:p>
                  </a:txBody>
                  <a:tcPr marL="141747" marR="109036" marT="109036" marB="10903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128463"/>
                  </a:ext>
                </a:extLst>
              </a:tr>
              <a:tr h="787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Exhaustiveness</a:t>
                      </a:r>
                    </a:p>
                  </a:txBody>
                  <a:tcPr marL="141747" marR="109036" marT="109036" marB="10903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Evaluates </a:t>
                      </a:r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all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 combinations</a:t>
                      </a:r>
                    </a:p>
                  </a:txBody>
                  <a:tcPr marL="141747" marR="109036" marT="109036" marB="10903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Randomly samples combinations</a:t>
                      </a:r>
                    </a:p>
                  </a:txBody>
                  <a:tcPr marL="141747" marR="109036" marT="109036" marB="10903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033748"/>
                  </a:ext>
                </a:extLst>
              </a:tr>
              <a:tr h="787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Time Efficiency</a:t>
                      </a:r>
                    </a:p>
                  </a:txBody>
                  <a:tcPr marL="141747" marR="109036" marT="109036" marB="10903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Expensive for large grids</a:t>
                      </a:r>
                    </a:p>
                  </a:txBody>
                  <a:tcPr marL="141747" marR="109036" marT="109036" marB="10903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Faster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 for large parameter spaces</a:t>
                      </a:r>
                    </a:p>
                  </a:txBody>
                  <a:tcPr marL="141747" marR="109036" marT="109036" marB="10903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011654"/>
                  </a:ext>
                </a:extLst>
              </a:tr>
              <a:tr h="787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Exploration</a:t>
                      </a:r>
                    </a:p>
                  </a:txBody>
                  <a:tcPr marL="141747" marR="109036" marT="109036" marB="10903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Limited to predefined grid</a:t>
                      </a:r>
                    </a:p>
                  </a:txBody>
                  <a:tcPr marL="141747" marR="109036" marT="109036" marB="10903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Explores </a:t>
                      </a:r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more diverse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 ranges</a:t>
                      </a:r>
                    </a:p>
                  </a:txBody>
                  <a:tcPr marL="141747" marR="109036" marT="109036" marB="10903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96657"/>
                  </a:ext>
                </a:extLst>
              </a:tr>
              <a:tr h="787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Best Use Case</a:t>
                      </a:r>
                    </a:p>
                  </a:txBody>
                  <a:tcPr marL="141747" marR="109036" marT="109036" marB="10903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Small parameter spaces</a:t>
                      </a:r>
                    </a:p>
                  </a:txBody>
                  <a:tcPr marL="141747" marR="109036" marT="109036" marB="10903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Large spaces with time constraints</a:t>
                      </a:r>
                    </a:p>
                  </a:txBody>
                  <a:tcPr marL="141747" marR="109036" marT="109036" marB="10903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271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656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CC3DD-3C26-7079-3368-884DE5D9B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D7E6304B-A534-5194-064A-2BAA5A757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6B27F8C-9848-5293-1D5E-599AC706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8C6402CA-2574-8CC7-9506-3500B87BD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D2D4E9B8-47E2-7F49-A471-3014C9183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E19A8D87-929D-9B08-CC7C-24F736600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631F8F97-26B7-CB0F-A613-A7D190139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DE7F6707-2EB7-B219-E265-AD5A0259B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B108138F-BC1A-B144-66F9-86511A5F43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0D61A2B-50E3-AD67-7276-547A03B23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D5462-0CC2-A575-6A92-36099F66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527" y="1261871"/>
            <a:ext cx="3896712" cy="5091303"/>
          </a:xfrm>
        </p:spPr>
        <p:txBody>
          <a:bodyPr>
            <a:normAutofit/>
          </a:bodyPr>
          <a:lstStyle/>
          <a:p>
            <a:pPr algn="r"/>
            <a:r>
              <a:rPr lang="en-US" sz="3600" b="1" dirty="0">
                <a:latin typeface="Roboto" panose="02000000000000000000" pitchFamily="2" charset="0"/>
                <a:ea typeface="Roboto" panose="02000000000000000000" pitchFamily="2" charset="0"/>
              </a:rPr>
              <a:t>Practical Guidance on Choosing Search Ranges</a:t>
            </a:r>
            <a:br>
              <a:rPr lang="en-US" sz="3600" dirty="0"/>
            </a:br>
            <a:br>
              <a:rPr lang="en-US" sz="3600" b="1" dirty="0"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en-US" sz="36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2EA31A1-BA71-ABD1-8F87-BF1D38EC3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AEAD9-C4A8-374D-B7CC-34695A47C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1087" y="1391444"/>
            <a:ext cx="5951013" cy="4334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1. Start with Broad Ranges</a:t>
            </a:r>
            <a:endParaRPr lang="en-US" sz="1400" dirty="0"/>
          </a:p>
          <a:p>
            <a:r>
              <a:rPr lang="en-US" sz="1100" dirty="0"/>
              <a:t>Use </a:t>
            </a:r>
            <a:r>
              <a:rPr lang="en-US" sz="1100" b="1" dirty="0"/>
              <a:t>Random Search</a:t>
            </a:r>
            <a:r>
              <a:rPr lang="en-US" sz="1100" dirty="0"/>
              <a:t> first</a:t>
            </a:r>
          </a:p>
          <a:p>
            <a:r>
              <a:rPr lang="en-US" sz="1100" dirty="0"/>
              <a:t>Goal: Explore large parameter spaces quickly</a:t>
            </a:r>
          </a:p>
          <a:p>
            <a:r>
              <a:rPr lang="en-US" sz="1100" dirty="0"/>
              <a:t>Identify promising ranges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400" b="1" dirty="0"/>
              <a:t>2. Refine with Grid Search</a:t>
            </a:r>
            <a:endParaRPr lang="en-US" sz="1400" dirty="0"/>
          </a:p>
          <a:p>
            <a:r>
              <a:rPr lang="en-US" sz="1100" dirty="0"/>
              <a:t>Narrow the search space using insights from Random Search</a:t>
            </a:r>
          </a:p>
          <a:p>
            <a:r>
              <a:rPr lang="en-US" sz="1100" dirty="0"/>
              <a:t>Perform </a:t>
            </a:r>
            <a:r>
              <a:rPr lang="en-US" sz="1100" b="1" dirty="0"/>
              <a:t>exhaustive Grid Search</a:t>
            </a:r>
            <a:r>
              <a:rPr lang="en-US" sz="1100" dirty="0"/>
              <a:t> for fine-tuning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400" b="1" dirty="0"/>
              <a:t>3. Understand Model Sensitivity</a:t>
            </a:r>
            <a:endParaRPr lang="en-US" sz="1400" dirty="0"/>
          </a:p>
          <a:p>
            <a:r>
              <a:rPr lang="en-US" sz="1100" b="1" dirty="0"/>
              <a:t>Learning Rate</a:t>
            </a:r>
            <a:r>
              <a:rPr lang="en-US" sz="1100" dirty="0"/>
              <a:t> : Needs fine granularity</a:t>
            </a:r>
          </a:p>
          <a:p>
            <a:r>
              <a:rPr lang="en-US" sz="1100" b="1" dirty="0"/>
              <a:t>Number of Trees / Layers</a:t>
            </a:r>
            <a:r>
              <a:rPr lang="en-US" sz="1100" dirty="0"/>
              <a:t> : Can use coarser steps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endParaRPr lang="en-US" sz="1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828E39A-04C8-DFB8-6BA4-1809C3663F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1" y="6081080"/>
            <a:ext cx="653258" cy="65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05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76</TotalTime>
  <Words>219</Words>
  <Application>Microsoft Office PowerPoint</Application>
  <PresentationFormat>Widescreen</PresentationFormat>
  <Paragraphs>50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Corbel</vt:lpstr>
      <vt:lpstr>Roboto</vt:lpstr>
      <vt:lpstr>Parallax</vt:lpstr>
      <vt:lpstr>Grid Search and Random Search</vt:lpstr>
      <vt:lpstr>Grid Search and Random Search </vt:lpstr>
      <vt:lpstr>Pros &amp; Cons</vt:lpstr>
      <vt:lpstr>Practical Guidance on Choosing Search Ranges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 Bin Siddique</dc:creator>
  <cp:lastModifiedBy>Sad Bin Siddique</cp:lastModifiedBy>
  <cp:revision>2</cp:revision>
  <dcterms:created xsi:type="dcterms:W3CDTF">2026-07-16T18:41:43Z</dcterms:created>
  <dcterms:modified xsi:type="dcterms:W3CDTF">2026-07-16T20:51:50Z</dcterms:modified>
</cp:coreProperties>
</file>