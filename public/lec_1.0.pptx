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6"/>
  </p:notesMasterIdLst>
  <p:sldIdLst>
    <p:sldId id="258" r:id="rId2"/>
    <p:sldId id="277" r:id="rId3"/>
    <p:sldId id="279" r:id="rId4"/>
    <p:sldId id="28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D8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F5FAA-4225-4C5F-8BBE-1C1C577B392E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CC79F-5231-4C6B-8A21-2E338FB6F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01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CC79F-5231-4C6B-8A21-2E338FB6FA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630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521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72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85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378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01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164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99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400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01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531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273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06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88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185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95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9415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94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3337370-1828-4161-946B-07C2F71FE599}" type="datetimeFigureOut">
              <a:rPr lang="en-US" smtClean="0"/>
              <a:t>07/17/2026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16604EB-E56D-4D15-A8BB-9AE883C11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1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github.com/sadbinsiddique" TargetMode="External"/><Relationship Id="rId4" Type="http://schemas.openxmlformats.org/officeDocument/2006/relationships/hyperlink" Target="http://www.cognizex.or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CognizeX/AI-Engineer-Professiona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9AA8A6-2765-CFB4-668C-77714EAB0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6C686317-9C96-4A02-88CE-7319FF590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2B54ED-FFB9-3788-35B5-169763A4E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648930"/>
            <a:ext cx="5407023" cy="3347337"/>
          </a:xfrm>
        </p:spPr>
        <p:txBody>
          <a:bodyPr>
            <a:normAutofit/>
          </a:bodyPr>
          <a:lstStyle/>
          <a:p>
            <a:r>
              <a:rPr lang="en-US" sz="5100" dirty="0"/>
              <a:t>Introduction to Hyperparameter Tuning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C74C91-C2BE-ECD8-F571-9C10E140B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0632" y="3996267"/>
            <a:ext cx="4922391" cy="1887008"/>
          </a:xfrm>
        </p:spPr>
        <p:txBody>
          <a:bodyPr>
            <a:normAutofit/>
          </a:bodyPr>
          <a:lstStyle/>
          <a:p>
            <a:r>
              <a:rPr lang="en-US" b="1"/>
              <a:t>Organization: </a:t>
            </a:r>
            <a:r>
              <a:rPr lang="en-US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CognizeX</a:t>
            </a:r>
            <a:endParaRPr lang="en-US"/>
          </a:p>
          <a:p>
            <a:r>
              <a:rPr lang="en-US" b="1"/>
              <a:t>Instructor: </a:t>
            </a:r>
            <a:r>
              <a:rPr lang="en-US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Sad Bin Siddique </a:t>
            </a:r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0E25B5C-98A3-47D8-A4D7-10C2E1758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6714" y="-4763"/>
            <a:ext cx="5014912" cy="6862763"/>
            <a:chOff x="2928938" y="-4763"/>
            <a:chExt cx="5014912" cy="6862763"/>
          </a:xfrm>
        </p:grpSpPr>
        <p:sp>
          <p:nvSpPr>
            <p:cNvPr id="35" name="Freeform 6">
              <a:extLst>
                <a:ext uri="{FF2B5EF4-FFF2-40B4-BE49-F238E27FC236}">
                  <a16:creationId xmlns:a16="http://schemas.microsoft.com/office/drawing/2014/main" id="{FECB3374-15F5-40C2-95B4-0FCF10849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E762314F-F556-4403-BAA1-AF8A3BED3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5">
              <a:extLst>
                <a:ext uri="{FF2B5EF4-FFF2-40B4-BE49-F238E27FC236}">
                  <a16:creationId xmlns:a16="http://schemas.microsoft.com/office/drawing/2014/main" id="{02EDEF56-2F86-4867-986A-5AFB8EC07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26">
              <a:extLst>
                <a:ext uri="{FF2B5EF4-FFF2-40B4-BE49-F238E27FC236}">
                  <a16:creationId xmlns:a16="http://schemas.microsoft.com/office/drawing/2014/main" id="{51BE63E6-C24A-43FA-93F5-475F550AB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27">
              <a:extLst>
                <a:ext uri="{FF2B5EF4-FFF2-40B4-BE49-F238E27FC236}">
                  <a16:creationId xmlns:a16="http://schemas.microsoft.com/office/drawing/2014/main" id="{9639DAAA-46FE-401C-BB78-B7A9AF33C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28">
              <a:extLst>
                <a:ext uri="{FF2B5EF4-FFF2-40B4-BE49-F238E27FC236}">
                  <a16:creationId xmlns:a16="http://schemas.microsoft.com/office/drawing/2014/main" id="{D5EFBD2C-94D5-43D0-B2FE-E390BD3F3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" name="Rounded Rectangle 16">
            <a:extLst>
              <a:ext uri="{FF2B5EF4-FFF2-40B4-BE49-F238E27FC236}">
                <a16:creationId xmlns:a16="http://schemas.microsoft.com/office/drawing/2014/main" id="{EB9A9756-A5DB-460E-A867-A2AE77834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93" y="648931"/>
            <a:ext cx="5419641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E65F7B2-F8B3-3243-3E54-3B3042A894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56" y="1011765"/>
            <a:ext cx="4546708" cy="4546708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397664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191" y="685800"/>
            <a:ext cx="7411825" cy="1752599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Parameter and Hyperparameters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7D43D-DAF3-F7A9-4582-99AD65EB3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429" y="2457449"/>
            <a:ext cx="7243603" cy="195189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What are Parameters?</a:t>
            </a:r>
          </a:p>
          <a:p>
            <a:pPr lvl="1"/>
            <a:r>
              <a:rPr lang="en-US" sz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Values  learned by a machine learning model during training.</a:t>
            </a:r>
          </a:p>
          <a:p>
            <a:pPr lvl="1"/>
            <a:r>
              <a:rPr lang="en-US" sz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Adjusted to minimize the lost function and optimize predictions</a:t>
            </a:r>
          </a:p>
          <a:p>
            <a:pPr lvl="1"/>
            <a:r>
              <a:rPr lang="en-US" sz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Example</a:t>
            </a:r>
          </a:p>
          <a:p>
            <a:pPr lvl="2"/>
            <a:r>
              <a:rPr lang="en-US" sz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Coefficients in Linear Regression</a:t>
            </a:r>
          </a:p>
          <a:p>
            <a:pPr lvl="2"/>
            <a:r>
              <a:rPr lang="en-US" sz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Weight and biases in Neural Networks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29CE37F-A47C-D5DC-4BA5-354997E5CBD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1" y="6081080"/>
            <a:ext cx="653258" cy="65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7415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E457B6-8DDF-7803-8257-554245AD8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4B136A7F-8703-4FA7-80B1-874F5E758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6">
            <a:extLst>
              <a:ext uri="{FF2B5EF4-FFF2-40B4-BE49-F238E27FC236}">
                <a16:creationId xmlns:a16="http://schemas.microsoft.com/office/drawing/2014/main" id="{716B2278-BFC9-43BE-9620-278464A4A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382913" y="0"/>
            <a:ext cx="1122363" cy="5329238"/>
          </a:xfrm>
          <a:custGeom>
            <a:avLst/>
            <a:gdLst/>
            <a:ahLst/>
            <a:cxnLst/>
            <a:rect l="0" t="0" r="r" b="b"/>
            <a:pathLst>
              <a:path w="707" h="3357">
                <a:moveTo>
                  <a:pt x="0" y="3330"/>
                </a:moveTo>
                <a:lnTo>
                  <a:pt x="156" y="3357"/>
                </a:lnTo>
                <a:lnTo>
                  <a:pt x="707" y="0"/>
                </a:lnTo>
                <a:lnTo>
                  <a:pt x="547" y="0"/>
                </a:lnTo>
                <a:lnTo>
                  <a:pt x="0" y="333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Freeform 7">
            <a:extLst>
              <a:ext uri="{FF2B5EF4-FFF2-40B4-BE49-F238E27FC236}">
                <a16:creationId xmlns:a16="http://schemas.microsoft.com/office/drawing/2014/main" id="{E4CD00E4-F77A-49A5-A54B-A542D0DE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076525" y="0"/>
            <a:ext cx="1117600" cy="5276850"/>
          </a:xfrm>
          <a:custGeom>
            <a:avLst/>
            <a:gdLst/>
            <a:ahLst/>
            <a:cxnLst/>
            <a:rect l="0" t="0" r="r" b="b"/>
            <a:pathLst>
              <a:path w="704" h="3324">
                <a:moveTo>
                  <a:pt x="704" y="0"/>
                </a:moveTo>
                <a:lnTo>
                  <a:pt x="545" y="0"/>
                </a:lnTo>
                <a:lnTo>
                  <a:pt x="0" y="3300"/>
                </a:lnTo>
                <a:lnTo>
                  <a:pt x="157" y="3324"/>
                </a:lnTo>
                <a:lnTo>
                  <a:pt x="70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Freeform 10">
            <a:extLst>
              <a:ext uri="{FF2B5EF4-FFF2-40B4-BE49-F238E27FC236}">
                <a16:creationId xmlns:a16="http://schemas.microsoft.com/office/drawing/2014/main" id="{17158038-9069-44CB-8794-762B5429B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382913" y="5286375"/>
            <a:ext cx="2130425" cy="1571625"/>
          </a:xfrm>
          <a:custGeom>
            <a:avLst/>
            <a:gdLst/>
            <a:ahLst/>
            <a:cxnLst/>
            <a:rect l="0" t="0" r="r" b="b"/>
            <a:pathLst>
              <a:path w="1342" h="990">
                <a:moveTo>
                  <a:pt x="0" y="3"/>
                </a:moveTo>
                <a:lnTo>
                  <a:pt x="942" y="990"/>
                </a:lnTo>
                <a:lnTo>
                  <a:pt x="1342" y="990"/>
                </a:lnTo>
                <a:lnTo>
                  <a:pt x="156" y="27"/>
                </a:lnTo>
                <a:lnTo>
                  <a:pt x="0" y="0"/>
                </a:lnTo>
                <a:lnTo>
                  <a:pt x="0" y="3"/>
                </a:lnTo>
                <a:close/>
              </a:path>
            </a:pathLst>
          </a:custGeom>
          <a:solidFill>
            <a:schemeClr val="tx2">
              <a:lumMod val="25000"/>
              <a:alpha val="8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45056AB-07D8-43D9-9343-AB85199AE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076525" y="5238750"/>
            <a:ext cx="1695450" cy="1619250"/>
          </a:xfrm>
          <a:custGeom>
            <a:avLst/>
            <a:gdLst>
              <a:gd name="connsiteX0" fmla="*/ 0 w 1695450"/>
              <a:gd name="connsiteY0" fmla="*/ 0 h 1619250"/>
              <a:gd name="connsiteX1" fmla="*/ 10414 w 1695450"/>
              <a:gd name="connsiteY1" fmla="*/ 1623 h 1619250"/>
              <a:gd name="connsiteX2" fmla="*/ 9236 w 1695450"/>
              <a:gd name="connsiteY2" fmla="*/ 0 h 1619250"/>
              <a:gd name="connsiteX3" fmla="*/ 10475 w 1695450"/>
              <a:gd name="connsiteY3" fmla="*/ 1633 h 1619250"/>
              <a:gd name="connsiteX4" fmla="*/ 244475 w 1695450"/>
              <a:gd name="connsiteY4" fmla="*/ 38100 h 1619250"/>
              <a:gd name="connsiteX5" fmla="*/ 249238 w 1695450"/>
              <a:gd name="connsiteY5" fmla="*/ 38100 h 1619250"/>
              <a:gd name="connsiteX6" fmla="*/ 249238 w 1695450"/>
              <a:gd name="connsiteY6" fmla="*/ 42863 h 1619250"/>
              <a:gd name="connsiteX7" fmla="*/ 244475 w 1695450"/>
              <a:gd name="connsiteY7" fmla="*/ 42863 h 1619250"/>
              <a:gd name="connsiteX8" fmla="*/ 292100 w 1695450"/>
              <a:gd name="connsiteY8" fmla="*/ 95250 h 1619250"/>
              <a:gd name="connsiteX9" fmla="*/ 1695450 w 1695450"/>
              <a:gd name="connsiteY9" fmla="*/ 1619250 h 1619250"/>
              <a:gd name="connsiteX10" fmla="*/ 1237961 w 1695450"/>
              <a:gd name="connsiteY10" fmla="*/ 1619250 h 1619250"/>
              <a:gd name="connsiteX11" fmla="*/ 1228725 w 1695450"/>
              <a:gd name="connsiteY11" fmla="*/ 1619250 h 1619250"/>
              <a:gd name="connsiteX12" fmla="*/ 1183986 w 1695450"/>
              <a:gd name="connsiteY12" fmla="*/ 1619250 h 1619250"/>
              <a:gd name="connsiteX13" fmla="*/ 210255 w 1695450"/>
              <a:gd name="connsiteY13" fmla="*/ 277080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695450" h="1619250">
                <a:moveTo>
                  <a:pt x="0" y="0"/>
                </a:moveTo>
                <a:lnTo>
                  <a:pt x="10414" y="1623"/>
                </a:lnTo>
                <a:lnTo>
                  <a:pt x="9236" y="0"/>
                </a:lnTo>
                <a:lnTo>
                  <a:pt x="10475" y="1633"/>
                </a:lnTo>
                <a:lnTo>
                  <a:pt x="244475" y="38100"/>
                </a:lnTo>
                <a:lnTo>
                  <a:pt x="249238" y="38100"/>
                </a:lnTo>
                <a:lnTo>
                  <a:pt x="249238" y="42863"/>
                </a:lnTo>
                <a:lnTo>
                  <a:pt x="244475" y="42863"/>
                </a:lnTo>
                <a:lnTo>
                  <a:pt x="292100" y="95250"/>
                </a:lnTo>
                <a:lnTo>
                  <a:pt x="1695450" y="1619250"/>
                </a:lnTo>
                <a:lnTo>
                  <a:pt x="1237961" y="1619250"/>
                </a:lnTo>
                <a:lnTo>
                  <a:pt x="1228725" y="1619250"/>
                </a:lnTo>
                <a:lnTo>
                  <a:pt x="1183986" y="1619250"/>
                </a:lnTo>
                <a:lnTo>
                  <a:pt x="210255" y="277080"/>
                </a:lnTo>
                <a:close/>
              </a:path>
            </a:pathLst>
          </a:custGeom>
          <a:solidFill>
            <a:schemeClr val="accent2">
              <a:lumMod val="75000"/>
              <a:alpha val="9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722AD0-4F4C-9622-2FBE-71353C6EF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4126" y="2247900"/>
            <a:ext cx="3381344" cy="2362200"/>
          </a:xfrm>
          <a:effectLst/>
        </p:spPr>
        <p:txBody>
          <a:bodyPr anchor="ctr">
            <a:normAutofit/>
          </a:bodyPr>
          <a:lstStyle/>
          <a:p>
            <a:r>
              <a:rPr lang="en-US" sz="3100" b="1" dirty="0">
                <a:latin typeface="Roboto" panose="02000000000000000000" pitchFamily="2" charset="0"/>
                <a:ea typeface="Roboto" panose="02000000000000000000" pitchFamily="2" charset="0"/>
              </a:rPr>
              <a:t>Common  Hyperparameter in Popular Models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E83D8662-D21C-4B0A-A8A5-EA1E5DEBC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43384" cy="6858001"/>
          </a:xfrm>
          <a:custGeom>
            <a:avLst/>
            <a:gdLst>
              <a:gd name="connsiteX0" fmla="*/ 0 w 8143384"/>
              <a:gd name="connsiteY0" fmla="*/ 0 h 6858001"/>
              <a:gd name="connsiteX1" fmla="*/ 3861881 w 8143384"/>
              <a:gd name="connsiteY1" fmla="*/ 0 h 6858001"/>
              <a:gd name="connsiteX2" fmla="*/ 3861881 w 8143384"/>
              <a:gd name="connsiteY2" fmla="*/ 1 h 6858001"/>
              <a:gd name="connsiteX3" fmla="*/ 6963565 w 8143384"/>
              <a:gd name="connsiteY3" fmla="*/ 1 h 6858001"/>
              <a:gd name="connsiteX4" fmla="*/ 6963565 w 8143384"/>
              <a:gd name="connsiteY4" fmla="*/ 0 h 6858001"/>
              <a:gd name="connsiteX5" fmla="*/ 7841583 w 8143384"/>
              <a:gd name="connsiteY5" fmla="*/ 0 h 6858001"/>
              <a:gd name="connsiteX6" fmla="*/ 6994625 w 8143384"/>
              <a:gd name="connsiteY6" fmla="*/ 5258645 h 6858001"/>
              <a:gd name="connsiteX7" fmla="*/ 6994625 w 8143384"/>
              <a:gd name="connsiteY7" fmla="*/ 5263939 h 6858001"/>
              <a:gd name="connsiteX8" fmla="*/ 8143384 w 8143384"/>
              <a:gd name="connsiteY8" fmla="*/ 6858001 h 6858001"/>
              <a:gd name="connsiteX9" fmla="*/ 6994625 w 8143384"/>
              <a:gd name="connsiteY9" fmla="*/ 6858001 h 6858001"/>
              <a:gd name="connsiteX10" fmla="*/ 6643195 w 8143384"/>
              <a:gd name="connsiteY10" fmla="*/ 6858001 h 6858001"/>
              <a:gd name="connsiteX11" fmla="*/ 3861881 w 8143384"/>
              <a:gd name="connsiteY11" fmla="*/ 6858001 h 6858001"/>
              <a:gd name="connsiteX12" fmla="*/ 3739675 w 8143384"/>
              <a:gd name="connsiteY12" fmla="*/ 6858001 h 6858001"/>
              <a:gd name="connsiteX13" fmla="*/ 0 w 8143384"/>
              <a:gd name="connsiteY1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43384" h="6858001">
                <a:moveTo>
                  <a:pt x="0" y="0"/>
                </a:moveTo>
                <a:lnTo>
                  <a:pt x="3861881" y="0"/>
                </a:lnTo>
                <a:lnTo>
                  <a:pt x="3861881" y="1"/>
                </a:lnTo>
                <a:lnTo>
                  <a:pt x="6963565" y="1"/>
                </a:lnTo>
                <a:lnTo>
                  <a:pt x="6963565" y="0"/>
                </a:lnTo>
                <a:lnTo>
                  <a:pt x="7841583" y="0"/>
                </a:lnTo>
                <a:lnTo>
                  <a:pt x="6994625" y="5258645"/>
                </a:lnTo>
                <a:lnTo>
                  <a:pt x="6994625" y="5263939"/>
                </a:lnTo>
                <a:lnTo>
                  <a:pt x="8143384" y="6858001"/>
                </a:lnTo>
                <a:lnTo>
                  <a:pt x="6994625" y="6858001"/>
                </a:lnTo>
                <a:lnTo>
                  <a:pt x="6643195" y="6858001"/>
                </a:lnTo>
                <a:lnTo>
                  <a:pt x="3861881" y="6858001"/>
                </a:lnTo>
                <a:lnTo>
                  <a:pt x="3739675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1">
              <a:lumMod val="75000"/>
              <a:lumOff val="2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0B5F4B-1DCF-C198-1524-90ADF55CE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035" y="1023257"/>
            <a:ext cx="5968515" cy="5565112"/>
          </a:xfrm>
        </p:spPr>
        <p:txBody>
          <a:bodyPr anchor="ctr">
            <a:normAutofit/>
          </a:bodyPr>
          <a:lstStyle/>
          <a:p>
            <a:pPr marL="914400" lvl="2" indent="0">
              <a:buNone/>
            </a:pPr>
            <a:r>
              <a:rPr lang="en-US" sz="20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Decision Trees &amp; Random Forests</a:t>
            </a:r>
          </a:p>
          <a:p>
            <a:pPr lvl="2"/>
            <a:r>
              <a:rPr lang="en-US" sz="12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Max Depth : </a:t>
            </a:r>
            <a:r>
              <a:rPr lang="en-US" sz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Limits tree depth to avoid overfitting</a:t>
            </a:r>
          </a:p>
          <a:p>
            <a:pPr lvl="2"/>
            <a:r>
              <a:rPr lang="en-US" sz="12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Min Samples Split: </a:t>
            </a:r>
            <a:r>
              <a:rPr lang="en-US" sz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Minimum samples needed to split a node</a:t>
            </a:r>
          </a:p>
          <a:p>
            <a:pPr lvl="2"/>
            <a:r>
              <a:rPr lang="en-US" sz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Number of Estimators → Total trees in Random Forest</a:t>
            </a:r>
          </a:p>
          <a:p>
            <a:pPr marL="914400" lvl="2" indent="0">
              <a:buNone/>
            </a:pPr>
            <a:r>
              <a:rPr lang="en-US" sz="20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Gradient Boosting Models</a:t>
            </a:r>
          </a:p>
          <a:p>
            <a:pPr lvl="2"/>
            <a:r>
              <a:rPr lang="en-US" sz="12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Learning Rate</a:t>
            </a:r>
            <a:r>
              <a:rPr lang="en-US" sz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:Controls contribution of each tree </a:t>
            </a:r>
          </a:p>
          <a:p>
            <a:pPr lvl="2"/>
            <a:r>
              <a:rPr lang="en-US" sz="12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Subsample</a:t>
            </a:r>
            <a:r>
              <a:rPr lang="en-US" sz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: Fraction of data used per tree </a:t>
            </a:r>
          </a:p>
          <a:p>
            <a:pPr lvl="2"/>
            <a:r>
              <a:rPr lang="en-US" sz="12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Max Depth</a:t>
            </a:r>
            <a:r>
              <a:rPr lang="en-US" sz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: Controls complexity of individual trees</a:t>
            </a:r>
          </a:p>
          <a:p>
            <a:pPr marL="914400" lvl="2" indent="0">
              <a:buNone/>
            </a:pPr>
            <a:r>
              <a:rPr lang="en-US" sz="20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Neural Networks</a:t>
            </a:r>
          </a:p>
          <a:p>
            <a:pPr lvl="2"/>
            <a:r>
              <a:rPr lang="en-US" sz="12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Learning Rate</a:t>
            </a:r>
            <a:r>
              <a:rPr lang="en-US" sz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:Controls contribution of each tree </a:t>
            </a:r>
          </a:p>
          <a:p>
            <a:pPr lvl="2"/>
            <a:r>
              <a:rPr lang="en-US" sz="12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Subsample</a:t>
            </a:r>
            <a:r>
              <a:rPr lang="en-US" sz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: Fraction of data used per tree </a:t>
            </a:r>
          </a:p>
          <a:p>
            <a:pPr lvl="2"/>
            <a:r>
              <a:rPr lang="en-US" sz="12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Max Depth</a:t>
            </a:r>
            <a:r>
              <a:rPr lang="en-US" sz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: Controls complexity of individual trees</a:t>
            </a:r>
          </a:p>
          <a:p>
            <a:pPr marL="914400" lvl="2" indent="0">
              <a:buNone/>
            </a:pPr>
            <a:endParaRPr lang="en-US" sz="1200" dirty="0">
              <a:solidFill>
                <a:schemeClr val="accent2">
                  <a:lumMod val="20000"/>
                  <a:lumOff val="8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914400" lvl="2" indent="0">
              <a:buNone/>
            </a:pPr>
            <a:endParaRPr lang="en-US" sz="1200" dirty="0">
              <a:solidFill>
                <a:schemeClr val="tx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914400" lvl="2" indent="0">
              <a:buNone/>
            </a:pPr>
            <a:endParaRPr lang="en-US" sz="20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914400" lvl="2" indent="0">
              <a:buNone/>
            </a:pPr>
            <a:endParaRPr lang="en-US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8" name="Footer Placeholder 15">
            <a:extLst>
              <a:ext uri="{FF2B5EF4-FFF2-40B4-BE49-F238E27FC236}">
                <a16:creationId xmlns:a16="http://schemas.microsoft.com/office/drawing/2014/main" id="{2DCD8F78-1792-4C6D-981A-E217B2E88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4465" y="5883275"/>
            <a:ext cx="5759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0" name="Date Placeholder 14">
            <a:extLst>
              <a:ext uri="{FF2B5EF4-FFF2-40B4-BE49-F238E27FC236}">
                <a16:creationId xmlns:a16="http://schemas.microsoft.com/office/drawing/2014/main" id="{55406073-A765-4D67-ACDC-14CB85786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2" name="Slide Number Placeholder 16">
            <a:extLst>
              <a:ext uri="{FF2B5EF4-FFF2-40B4-BE49-F238E27FC236}">
                <a16:creationId xmlns:a16="http://schemas.microsoft.com/office/drawing/2014/main" id="{F7952C3D-CF7B-4948-838F-4A9E40B4A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5659E3-2705-2287-E7DE-340887BC0D2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1" y="6081080"/>
            <a:ext cx="653258" cy="65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104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E67A1FC6-22FB-4EA7-B90A-C9F18FBE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6246FDC4-DD97-431A-914A-9EB57A4A3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912130" cy="6858000"/>
          </a:xfrm>
          <a:custGeom>
            <a:avLst/>
            <a:gdLst>
              <a:gd name="connsiteX0" fmla="*/ 1073044 w 7912130"/>
              <a:gd name="connsiteY0" fmla="*/ 3032931 h 6858000"/>
              <a:gd name="connsiteX1" fmla="*/ 1073044 w 7912130"/>
              <a:gd name="connsiteY1" fmla="*/ 3035810 h 6858000"/>
              <a:gd name="connsiteX2" fmla="*/ 1076802 w 7912130"/>
              <a:gd name="connsiteY2" fmla="*/ 3035810 h 6858000"/>
              <a:gd name="connsiteX3" fmla="*/ 1170738 w 7912130"/>
              <a:gd name="connsiteY3" fmla="*/ 1248347 h 6858000"/>
              <a:gd name="connsiteX4" fmla="*/ 1170738 w 7912130"/>
              <a:gd name="connsiteY4" fmla="*/ 1273486 h 6858000"/>
              <a:gd name="connsiteX5" fmla="*/ 1183895 w 7912130"/>
              <a:gd name="connsiteY5" fmla="*/ 1248347 h 6858000"/>
              <a:gd name="connsiteX6" fmla="*/ 0 w 7912130"/>
              <a:gd name="connsiteY6" fmla="*/ 0 h 6858000"/>
              <a:gd name="connsiteX7" fmla="*/ 2133906 w 7912130"/>
              <a:gd name="connsiteY7" fmla="*/ 0 h 6858000"/>
              <a:gd name="connsiteX8" fmla="*/ 2629909 w 7912130"/>
              <a:gd name="connsiteY8" fmla="*/ 0 h 6858000"/>
              <a:gd name="connsiteX9" fmla="*/ 1227479 w 7912130"/>
              <a:gd name="connsiteY9" fmla="*/ 2669551 h 6858000"/>
              <a:gd name="connsiteX10" fmla="*/ 1235349 w 7912130"/>
              <a:gd name="connsiteY10" fmla="*/ 2673350 h 6858000"/>
              <a:gd name="connsiteX11" fmla="*/ 1353755 w 7912130"/>
              <a:gd name="connsiteY11" fmla="*/ 2754312 h 6858000"/>
              <a:gd name="connsiteX12" fmla="*/ 7912130 w 7912130"/>
              <a:gd name="connsiteY12" fmla="*/ 6858000 h 6858000"/>
              <a:gd name="connsiteX13" fmla="*/ 6066970 w 7912130"/>
              <a:gd name="connsiteY13" fmla="*/ 6858000 h 6858000"/>
              <a:gd name="connsiteX14" fmla="*/ 6059889 w 7912130"/>
              <a:gd name="connsiteY14" fmla="*/ 6852577 h 6858000"/>
              <a:gd name="connsiteX15" fmla="*/ 6059889 w 7912130"/>
              <a:gd name="connsiteY15" fmla="*/ 6857999 h 6858000"/>
              <a:gd name="connsiteX16" fmla="*/ 1707025 w 7912130"/>
              <a:gd name="connsiteY16" fmla="*/ 6857999 h 6858000"/>
              <a:gd name="connsiteX17" fmla="*/ 1707025 w 7912130"/>
              <a:gd name="connsiteY17" fmla="*/ 6858000 h 6858000"/>
              <a:gd name="connsiteX18" fmla="*/ 1073044 w 7912130"/>
              <a:gd name="connsiteY18" fmla="*/ 6858000 h 6858000"/>
              <a:gd name="connsiteX19" fmla="*/ 536592 w 7912130"/>
              <a:gd name="connsiteY19" fmla="*/ 6858000 h 6858000"/>
              <a:gd name="connsiteX20" fmla="*/ 0 w 7912130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912130" h="6858000">
                <a:moveTo>
                  <a:pt x="1073044" y="3032931"/>
                </a:moveTo>
                <a:lnTo>
                  <a:pt x="1073044" y="3035810"/>
                </a:lnTo>
                <a:lnTo>
                  <a:pt x="1076802" y="3035810"/>
                </a:lnTo>
                <a:close/>
                <a:moveTo>
                  <a:pt x="1170738" y="1248347"/>
                </a:moveTo>
                <a:lnTo>
                  <a:pt x="1170738" y="1273486"/>
                </a:lnTo>
                <a:lnTo>
                  <a:pt x="1183895" y="1248347"/>
                </a:lnTo>
                <a:close/>
                <a:moveTo>
                  <a:pt x="0" y="0"/>
                </a:moveTo>
                <a:lnTo>
                  <a:pt x="2133906" y="0"/>
                </a:lnTo>
                <a:lnTo>
                  <a:pt x="2629909" y="0"/>
                </a:lnTo>
                <a:lnTo>
                  <a:pt x="1227479" y="2669551"/>
                </a:lnTo>
                <a:lnTo>
                  <a:pt x="1235349" y="2673350"/>
                </a:lnTo>
                <a:lnTo>
                  <a:pt x="1353755" y="2754312"/>
                </a:lnTo>
                <a:lnTo>
                  <a:pt x="7912130" y="6858000"/>
                </a:lnTo>
                <a:lnTo>
                  <a:pt x="6066970" y="6858000"/>
                </a:lnTo>
                <a:lnTo>
                  <a:pt x="6059889" y="6852577"/>
                </a:lnTo>
                <a:lnTo>
                  <a:pt x="6059889" y="6857999"/>
                </a:lnTo>
                <a:lnTo>
                  <a:pt x="1707025" y="6857999"/>
                </a:lnTo>
                <a:lnTo>
                  <a:pt x="1707025" y="6858000"/>
                </a:lnTo>
                <a:lnTo>
                  <a:pt x="1073044" y="6858000"/>
                </a:lnTo>
                <a:lnTo>
                  <a:pt x="5365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D4E68A2-74B0-42F5-BB75-2E1A7C201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535917" cy="6858000"/>
          </a:xfrm>
          <a:custGeom>
            <a:avLst/>
            <a:gdLst>
              <a:gd name="connsiteX0" fmla="*/ 696831 w 7535917"/>
              <a:gd name="connsiteY0" fmla="*/ 3032931 h 6858000"/>
              <a:gd name="connsiteX1" fmla="*/ 696831 w 7535917"/>
              <a:gd name="connsiteY1" fmla="*/ 3035810 h 6858000"/>
              <a:gd name="connsiteX2" fmla="*/ 700589 w 7535917"/>
              <a:gd name="connsiteY2" fmla="*/ 3035810 h 6858000"/>
              <a:gd name="connsiteX3" fmla="*/ 794525 w 7535917"/>
              <a:gd name="connsiteY3" fmla="*/ 1248347 h 6858000"/>
              <a:gd name="connsiteX4" fmla="*/ 794525 w 7535917"/>
              <a:gd name="connsiteY4" fmla="*/ 1273486 h 6858000"/>
              <a:gd name="connsiteX5" fmla="*/ 807682 w 7535917"/>
              <a:gd name="connsiteY5" fmla="*/ 1248347 h 6858000"/>
              <a:gd name="connsiteX6" fmla="*/ 0 w 7535917"/>
              <a:gd name="connsiteY6" fmla="*/ 0 h 6858000"/>
              <a:gd name="connsiteX7" fmla="*/ 1757693 w 7535917"/>
              <a:gd name="connsiteY7" fmla="*/ 0 h 6858000"/>
              <a:gd name="connsiteX8" fmla="*/ 2253696 w 7535917"/>
              <a:gd name="connsiteY8" fmla="*/ 0 h 6858000"/>
              <a:gd name="connsiteX9" fmla="*/ 851266 w 7535917"/>
              <a:gd name="connsiteY9" fmla="*/ 2669551 h 6858000"/>
              <a:gd name="connsiteX10" fmla="*/ 859136 w 7535917"/>
              <a:gd name="connsiteY10" fmla="*/ 2673350 h 6858000"/>
              <a:gd name="connsiteX11" fmla="*/ 977542 w 7535917"/>
              <a:gd name="connsiteY11" fmla="*/ 2754312 h 6858000"/>
              <a:gd name="connsiteX12" fmla="*/ 7535917 w 7535917"/>
              <a:gd name="connsiteY12" fmla="*/ 6858000 h 6858000"/>
              <a:gd name="connsiteX13" fmla="*/ 5690757 w 7535917"/>
              <a:gd name="connsiteY13" fmla="*/ 6858000 h 6858000"/>
              <a:gd name="connsiteX14" fmla="*/ 5683676 w 7535917"/>
              <a:gd name="connsiteY14" fmla="*/ 6852577 h 6858000"/>
              <a:gd name="connsiteX15" fmla="*/ 5683676 w 7535917"/>
              <a:gd name="connsiteY15" fmla="*/ 6857999 h 6858000"/>
              <a:gd name="connsiteX16" fmla="*/ 1330812 w 7535917"/>
              <a:gd name="connsiteY16" fmla="*/ 6857999 h 6858000"/>
              <a:gd name="connsiteX17" fmla="*/ 1330812 w 7535917"/>
              <a:gd name="connsiteY17" fmla="*/ 6858000 h 6858000"/>
              <a:gd name="connsiteX18" fmla="*/ 696831 w 7535917"/>
              <a:gd name="connsiteY18" fmla="*/ 6858000 h 6858000"/>
              <a:gd name="connsiteX19" fmla="*/ 160379 w 7535917"/>
              <a:gd name="connsiteY19" fmla="*/ 6858000 h 6858000"/>
              <a:gd name="connsiteX20" fmla="*/ 0 w 7535917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35917" h="6858000">
                <a:moveTo>
                  <a:pt x="696831" y="3032931"/>
                </a:moveTo>
                <a:lnTo>
                  <a:pt x="696831" y="3035810"/>
                </a:lnTo>
                <a:lnTo>
                  <a:pt x="700589" y="3035810"/>
                </a:lnTo>
                <a:close/>
                <a:moveTo>
                  <a:pt x="794525" y="1248347"/>
                </a:moveTo>
                <a:lnTo>
                  <a:pt x="794525" y="1273486"/>
                </a:lnTo>
                <a:lnTo>
                  <a:pt x="807682" y="1248347"/>
                </a:lnTo>
                <a:close/>
                <a:moveTo>
                  <a:pt x="0" y="0"/>
                </a:moveTo>
                <a:lnTo>
                  <a:pt x="1757693" y="0"/>
                </a:lnTo>
                <a:lnTo>
                  <a:pt x="2253696" y="0"/>
                </a:lnTo>
                <a:lnTo>
                  <a:pt x="851266" y="2669551"/>
                </a:lnTo>
                <a:lnTo>
                  <a:pt x="859136" y="2673350"/>
                </a:lnTo>
                <a:lnTo>
                  <a:pt x="977542" y="2754312"/>
                </a:lnTo>
                <a:lnTo>
                  <a:pt x="7535917" y="6858000"/>
                </a:lnTo>
                <a:lnTo>
                  <a:pt x="5690757" y="6858000"/>
                </a:lnTo>
                <a:lnTo>
                  <a:pt x="5683676" y="6852577"/>
                </a:lnTo>
                <a:lnTo>
                  <a:pt x="5683676" y="6857999"/>
                </a:lnTo>
                <a:lnTo>
                  <a:pt x="1330812" y="6857999"/>
                </a:lnTo>
                <a:lnTo>
                  <a:pt x="1330812" y="6858000"/>
                </a:lnTo>
                <a:lnTo>
                  <a:pt x="696831" y="6858000"/>
                </a:lnTo>
                <a:lnTo>
                  <a:pt x="1603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205D8D-9BCB-1880-99A3-4E4E88B6E9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4658" y="755904"/>
            <a:ext cx="7711025" cy="3084576"/>
          </a:xfrm>
        </p:spPr>
        <p:txBody>
          <a:bodyPr anchor="ctr">
            <a:normAutofit/>
          </a:bodyPr>
          <a:lstStyle/>
          <a:p>
            <a:pPr algn="l"/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Hands-On Exercise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DFAC39-AF42-C7DE-0E99-BCF88B5331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4656" y="3038350"/>
            <a:ext cx="7711025" cy="2310890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Objective</a:t>
            </a:r>
          </a:p>
          <a:p>
            <a:pPr algn="just"/>
            <a:r>
              <a:rPr lang="en-US" sz="1300" dirty="0">
                <a:solidFill>
                  <a:schemeClr val="accent1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Train a model with default hyperparameters, evaluate its performance, and manually adjust a few hyperparameters to observe their impact on results.</a:t>
            </a:r>
          </a:p>
          <a:p>
            <a:r>
              <a:rPr lang="en-US" sz="1200" i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Link</a:t>
            </a:r>
            <a:endParaRPr lang="en-US" sz="1200" i="1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6F2A7E-04E4-887F-41AC-9BBF3C810AC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01" y="6081080"/>
            <a:ext cx="653258" cy="65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5803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55</TotalTime>
  <Words>171</Words>
  <Application>Microsoft Office PowerPoint</Application>
  <PresentationFormat>Widescreen</PresentationFormat>
  <Paragraphs>30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Corbel</vt:lpstr>
      <vt:lpstr>Roboto</vt:lpstr>
      <vt:lpstr>Parallax</vt:lpstr>
      <vt:lpstr>Introduction to Hyperparameter Tuning</vt:lpstr>
      <vt:lpstr>Parameter and Hyperparameters</vt:lpstr>
      <vt:lpstr>Common  Hyperparameter in Popular Models</vt:lpstr>
      <vt:lpstr>Hands-On 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 Bin Siddique</dc:creator>
  <cp:lastModifiedBy>Sad Bin Siddique</cp:lastModifiedBy>
  <cp:revision>1</cp:revision>
  <dcterms:created xsi:type="dcterms:W3CDTF">2026-07-16T18:41:43Z</dcterms:created>
  <dcterms:modified xsi:type="dcterms:W3CDTF">2026-07-16T19:37:10Z</dcterms:modified>
</cp:coreProperties>
</file>