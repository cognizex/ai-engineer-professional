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58" r:id="rId2"/>
    <p:sldId id="277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5FAA-4225-4C5F-8BBE-1C1C577B392E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C79F-5231-4C6B-8A21-2E338FB6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C79F-5231-4C6B-8A21-2E338FB6FA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3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2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7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7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73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06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8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85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41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9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sadbinsiddique" TargetMode="External"/><Relationship Id="rId4" Type="http://schemas.openxmlformats.org/officeDocument/2006/relationships/hyperlink" Target="http://www.cognizex.or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AA8A6-2765-CFB4-668C-77714EAB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B54ED-FFB9-3788-35B5-169763A4E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706" y="648930"/>
            <a:ext cx="5660317" cy="3347337"/>
          </a:xfrm>
        </p:spPr>
        <p:txBody>
          <a:bodyPr>
            <a:noAutofit/>
          </a:bodyPr>
          <a:lstStyle/>
          <a:p>
            <a:r>
              <a:rPr lang="en-US" sz="5400" dirty="0"/>
              <a:t>Introduction to Bayesian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74C91-C2BE-ECD8-F571-9C10E140B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632" y="3996267"/>
            <a:ext cx="4922391" cy="1887008"/>
          </a:xfrm>
        </p:spPr>
        <p:txBody>
          <a:bodyPr>
            <a:normAutofit/>
          </a:bodyPr>
          <a:lstStyle/>
          <a:p>
            <a:r>
              <a:rPr lang="en-US" b="1" dirty="0"/>
              <a:t>Organization: </a:t>
            </a:r>
            <a:r>
              <a:rPr 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CognizeX</a:t>
            </a:r>
            <a:endParaRPr lang="en-US" dirty="0"/>
          </a:p>
          <a:p>
            <a:r>
              <a:rPr lang="en-US" b="1" dirty="0"/>
              <a:t>Instructor: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Sad Bin Siddique </a:t>
            </a:r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65F7B2-F8B3-3243-3E54-3B3042A89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56" y="1011765"/>
            <a:ext cx="4546708" cy="454670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397664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76" y="1261872"/>
            <a:ext cx="3458562" cy="4334256"/>
          </a:xfrm>
        </p:spPr>
        <p:txBody>
          <a:bodyPr>
            <a:normAutofit/>
          </a:bodyPr>
          <a:lstStyle/>
          <a:p>
            <a:r>
              <a:rPr lang="en-US" sz="3600" b="1" dirty="0"/>
              <a:t>Bayesian Optimization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7D43D-DAF3-F7A9-4582-99AD65EB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087" y="1631658"/>
            <a:ext cx="5951013" cy="5014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What is Bayesian Optimization?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100" dirty="0"/>
              <a:t>Advanced hyperparameter tuning method that </a:t>
            </a:r>
            <a:r>
              <a:rPr lang="en-US" sz="1100" b="1" dirty="0"/>
              <a:t>smartly balances</a:t>
            </a:r>
            <a:r>
              <a:rPr lang="en-US" sz="1100" dirty="0"/>
              <a:t> exploration and exploitation using a probabilistic model.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b="1" dirty="0"/>
              <a:t>How It Works:</a:t>
            </a:r>
            <a:endParaRPr lang="en-US" sz="1400" dirty="0"/>
          </a:p>
          <a:p>
            <a:r>
              <a:rPr lang="en-US" sz="1100" b="1" dirty="0"/>
              <a:t>Surrogate Model</a:t>
            </a:r>
            <a:r>
              <a:rPr lang="en-US" sz="1100" dirty="0"/>
              <a:t> — Builds a probabilistic approximation (e.g. Gaussian Process) of model performance</a:t>
            </a:r>
          </a:p>
          <a:p>
            <a:r>
              <a:rPr lang="en-US" sz="1100" b="1" dirty="0"/>
              <a:t>Acquisition Function</a:t>
            </a:r>
            <a:r>
              <a:rPr lang="en-US" sz="1100" dirty="0"/>
              <a:t> — Decides the next promising hyperparameters to try</a:t>
            </a:r>
          </a:p>
          <a:p>
            <a:r>
              <a:rPr lang="en-US" sz="1100" b="1" dirty="0"/>
              <a:t>Iterative Refinement</a:t>
            </a:r>
            <a:r>
              <a:rPr lang="en-US" sz="1100" dirty="0"/>
              <a:t> — Updates the model after every evaluation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b="1" dirty="0"/>
              <a:t>Why Use Bayesian Optimization?</a:t>
            </a:r>
            <a:endParaRPr lang="en-US" sz="1400" dirty="0"/>
          </a:p>
          <a:p>
            <a:r>
              <a:rPr lang="en-US" sz="1100" dirty="0"/>
              <a:t>Highly efficient for </a:t>
            </a:r>
            <a:r>
              <a:rPr lang="en-US" sz="1100" b="1" dirty="0"/>
              <a:t>expensive</a:t>
            </a:r>
            <a:r>
              <a:rPr lang="en-US" sz="1100" dirty="0"/>
              <a:t> or </a:t>
            </a:r>
            <a:r>
              <a:rPr lang="en-US" sz="1100" b="1" dirty="0"/>
              <a:t>high-dimensional</a:t>
            </a:r>
            <a:r>
              <a:rPr lang="en-US" sz="1100" dirty="0"/>
              <a:t> hyperparameter tuning</a:t>
            </a:r>
          </a:p>
          <a:p>
            <a:r>
              <a:rPr lang="en-US" sz="1100" dirty="0"/>
              <a:t>Requires </a:t>
            </a:r>
            <a:r>
              <a:rPr lang="en-US" sz="1100" b="1" dirty="0"/>
              <a:t>fewer evaluations</a:t>
            </a:r>
            <a:r>
              <a:rPr lang="en-US" sz="1100" dirty="0"/>
              <a:t> compared to Grid or Random Search</a:t>
            </a:r>
          </a:p>
          <a:p>
            <a:r>
              <a:rPr lang="en-US" sz="1100" b="1" dirty="0"/>
              <a:t>Key Advantage:</a:t>
            </a:r>
            <a:r>
              <a:rPr lang="en-US" sz="1100" dirty="0"/>
              <a:t> Much smarter and faster than brute-force methods when model training is costly.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29CE37F-A47C-D5DC-4BA5-354997E5CB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CC3DD-3C26-7079-3368-884DE5D9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7E6304B-A534-5194-064A-2BAA5A757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B27F8C-9848-5293-1D5E-599AC706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8C6402CA-2574-8CC7-9506-3500B87BD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2D4E9B8-47E2-7F49-A471-3014C9183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E19A8D87-929D-9B08-CC7C-24F736600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631F8F97-26B7-CB0F-A613-A7D190139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DE7F6707-2EB7-B219-E265-AD5A0259B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B108138F-BC1A-B144-66F9-86511A5F4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0D61A2B-50E3-AD67-7276-547A03B23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D5462-0CC2-A575-6A92-36099F66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63045"/>
            <a:ext cx="3686310" cy="5580593"/>
          </a:xfrm>
        </p:spPr>
        <p:txBody>
          <a:bodyPr>
            <a:normAutofit/>
          </a:bodyPr>
          <a:lstStyle/>
          <a:p>
            <a:pPr algn="r"/>
            <a: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  <a:t>Libraries for </a:t>
            </a:r>
            <a:r>
              <a:rPr lang="en-US" sz="3600" b="1" dirty="0"/>
              <a:t>Bayesian Optimization</a:t>
            </a:r>
            <a: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  <a:t>  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EA31A1-BA71-ABD1-8F87-BF1D38EC3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AEAD9-C4A8-374D-B7CC-34695A47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087" y="1337187"/>
            <a:ext cx="5951013" cy="474389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Hyperopt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Simplifies Bayesian Optimization for hyperparameter tuning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Works with `fmin` to minimize objective functions over a parameter space</a:t>
            </a:r>
            <a:endParaRPr lang="en-US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Optuna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Flexible and user-friendly library for hyperparameter optimization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Supports dynamic search spaces and pruning of unpromising trials</a:t>
            </a:r>
            <a:endParaRPr lang="en-US" sz="1400" b="1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828E39A-04C8-DFB8-6BA4-1809C366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C0220-6CBA-51C5-6979-22DED89C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C89B94D-CB2B-BB8C-BA32-4623EA8AC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95D310-BB71-22F2-862A-36C65911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D4E93039-3277-17CA-6599-F69BF5DA1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3DB58ADF-94AE-916C-0A46-3CADBD99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C111E2B4-86B6-DF76-5D3C-B4100718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EE56D087-9160-5BB1-6DFD-649AD22D3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F5539C2F-4CF0-CA04-91DF-D68CFF988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867E0E50-8D2F-5A02-0504-BC3210888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0EABF04-5E93-2517-A5F2-D754B3864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B9194-05F9-7A9C-556B-C397EFE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63045"/>
            <a:ext cx="3686310" cy="5580593"/>
          </a:xfrm>
        </p:spPr>
        <p:txBody>
          <a:bodyPr>
            <a:normAutofit/>
          </a:bodyPr>
          <a:lstStyle/>
          <a:p>
            <a:r>
              <a:rPr lang="en-US" sz="3600" b="1" dirty="0"/>
              <a:t>Exploration vs Exploitation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4FBE5F-B0F8-C833-5DDC-C64E52512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FF875-F028-BD0E-6FBA-D2DD2205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087" y="1337187"/>
            <a:ext cx="6428513" cy="4743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Exploration</a:t>
            </a:r>
            <a:r>
              <a:rPr lang="en-US" sz="1400" dirty="0"/>
              <a:t> </a:t>
            </a:r>
          </a:p>
          <a:p>
            <a:r>
              <a:rPr lang="en-US" sz="1100" dirty="0"/>
              <a:t>Focuses on sampling hyperparameters from unexplored regions</a:t>
            </a:r>
          </a:p>
          <a:p>
            <a:r>
              <a:rPr lang="en-US" sz="1100" dirty="0"/>
              <a:t>Useful for identifying new areas of high potential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Exploitation</a:t>
            </a:r>
            <a:r>
              <a:rPr lang="en-US" sz="1400" dirty="0"/>
              <a:t> </a:t>
            </a:r>
          </a:p>
          <a:p>
            <a:r>
              <a:rPr lang="en-US" sz="1100" dirty="0"/>
              <a:t>Focuses on refining the search around regions with known high performance</a:t>
            </a:r>
          </a:p>
          <a:p>
            <a:r>
              <a:rPr lang="en-US" sz="1100" dirty="0"/>
              <a:t>Useful for fine-tuning near-optimal hyperparameters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Bayesian Optimization’s Advantage</a:t>
            </a:r>
            <a:r>
              <a:rPr lang="en-US" sz="1400" dirty="0"/>
              <a:t> </a:t>
            </a:r>
          </a:p>
          <a:p>
            <a:r>
              <a:rPr lang="en-US" sz="1100" dirty="0"/>
              <a:t>Balances these approaches using the acquisition function to minimize unnecessary evaluations while improving results.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2D46BE3-D28F-15E4-5347-00DB3E12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25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AE723-3548-8A62-D8A6-6CF74630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6E06D-332E-0DF7-D5F1-500BFA7B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Objective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271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2D9C7-5E74-D719-3A52-DEFB8BC11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764372"/>
            <a:ext cx="7086600" cy="52160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Apply Bayesian Optimization using Optuna to tune an XGBoost model and compare the results with Grid Search and Random Search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3331515-A6FE-97D6-2107-9884E24FB9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83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89</TotalTime>
  <Words>230</Words>
  <Application>Microsoft Office PowerPoint</Application>
  <PresentationFormat>Widescreen</PresentationFormat>
  <Paragraphs>38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Century Gothic</vt:lpstr>
      <vt:lpstr>Corbel</vt:lpstr>
      <vt:lpstr>Roboto</vt:lpstr>
      <vt:lpstr>Parallax</vt:lpstr>
      <vt:lpstr>Introduction to Bayesian Optimization</vt:lpstr>
      <vt:lpstr>Bayesian Optimization</vt:lpstr>
      <vt:lpstr>Libraries for Bayesian Optimization  </vt:lpstr>
      <vt:lpstr>Exploration vs Exploitation</vt:lpstr>
      <vt:lpstr>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 Bin Siddique</dc:creator>
  <cp:lastModifiedBy>Sad Bin Siddique</cp:lastModifiedBy>
  <cp:revision>4</cp:revision>
  <dcterms:created xsi:type="dcterms:W3CDTF">2026-07-16T18:41:43Z</dcterms:created>
  <dcterms:modified xsi:type="dcterms:W3CDTF">2026-07-16T21:36:56Z</dcterms:modified>
</cp:coreProperties>
</file>